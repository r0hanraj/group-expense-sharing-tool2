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18"/>
  </p:notesMasterIdLst>
  <p:handoutMasterIdLst>
    <p:handoutMasterId r:id="rId19"/>
  </p:handoutMasterIdLst>
  <p:sldIdLst>
    <p:sldId id="314" r:id="rId4"/>
    <p:sldId id="322" r:id="rId5"/>
    <p:sldId id="323" r:id="rId6"/>
    <p:sldId id="266" r:id="rId7"/>
    <p:sldId id="341" r:id="rId8"/>
    <p:sldId id="342" r:id="rId9"/>
    <p:sldId id="343" r:id="rId10"/>
    <p:sldId id="344" r:id="rId11"/>
    <p:sldId id="345" r:id="rId12"/>
    <p:sldId id="346" r:id="rId13"/>
    <p:sldId id="340" r:id="rId14"/>
    <p:sldId id="347" r:id="rId15"/>
    <p:sldId id="348"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66" d="100"/>
          <a:sy n="66" d="100"/>
        </p:scale>
        <p:origin x="492" y="3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fld>
            <a:endParaRPr lang="en-US"/>
          </a:p>
        </p:txBody>
      </p:sp>
      <p:pic>
        <p:nvPicPr>
          <p:cNvPr id="7" name="Picture 6"/>
          <p:cNvPicPr>
            <a:picLocks noChangeAspect="1"/>
          </p:cNvPicPr>
          <p:nvPr/>
        </p:nvPicPr>
        <p:blipFill>
          <a:blip r:embed="rId1"/>
          <a:stretch>
            <a:fillRect/>
          </a:stretch>
        </p:blipFill>
        <p:spPr>
          <a:xfrm>
            <a:off x="0" y="0"/>
            <a:ext cx="1116374" cy="458788"/>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3BF734CB-DFAB-944A-8037-9643745D8F20}"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9C5272DB-0103-AF4C-A22D-07421EC406AD}"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6918335F-2E5B-B14E-9706-E237C81E4155}"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15BD6649-7156-A341-B9F2-F045B7551E13}"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C9977CD1-E97C-BA41-8E49-9F39B98FFBE8}" type="datetime1">
              <a:rPr lang="en-IN" smtClean="0"/>
            </a:fld>
            <a:endParaRPr lang="en-US"/>
          </a:p>
        </p:txBody>
      </p:sp>
      <p:sp>
        <p:nvSpPr>
          <p:cNvPr id="8" name="Footer Placeholder 7"/>
          <p:cNvSpPr>
            <a:spLocks noGrp="1"/>
          </p:cNvSpPr>
          <p:nvPr>
            <p:ph type="ftr" sz="quarter" idx="11"/>
          </p:nvPr>
        </p:nvSpPr>
        <p:spPr/>
        <p:txBody>
          <a:bodyPr/>
          <a:lstStyle/>
          <a:p>
            <a:r>
              <a:rPr lang="en-US"/>
              <a:t>0th REVIEW         173030211           Department of CSE</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F3DDBCA1-9406-7A44-8A76-1046B4040777}" type="datetime1">
              <a:rPr lang="en-IN" smtClean="0"/>
            </a:fld>
            <a:endParaRPr lang="en-US"/>
          </a:p>
        </p:txBody>
      </p:sp>
      <p:sp>
        <p:nvSpPr>
          <p:cNvPr id="4" name="Footer Placeholder 3"/>
          <p:cNvSpPr>
            <a:spLocks noGrp="1"/>
          </p:cNvSpPr>
          <p:nvPr>
            <p:ph type="ftr" sz="quarter" idx="11"/>
          </p:nvPr>
        </p:nvSpPr>
        <p:spPr/>
        <p:txBody>
          <a:bodyPr/>
          <a:lstStyle/>
          <a:p>
            <a:r>
              <a:rPr lang="en-US"/>
              <a:t>0th REVIEW         173030211           Department of CSE</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B085D-B69B-9C45-93A5-77F47F2F6792}" type="datetime1">
              <a:rPr lang="en-IN" smtClean="0"/>
            </a:fld>
            <a:endParaRPr lang="en-US"/>
          </a:p>
        </p:txBody>
      </p:sp>
      <p:sp>
        <p:nvSpPr>
          <p:cNvPr id="3" name="Footer Placeholder 2"/>
          <p:cNvSpPr>
            <a:spLocks noGrp="1"/>
          </p:cNvSpPr>
          <p:nvPr>
            <p:ph type="ftr" sz="quarter" idx="11"/>
          </p:nvPr>
        </p:nvSpPr>
        <p:spPr/>
        <p:txBody>
          <a:bodyPr/>
          <a:lstStyle/>
          <a:p>
            <a:r>
              <a:rPr lang="en-US"/>
              <a:t>0th REVIEW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C61B69B7-E8EF-6346-9390-671C5B22ACF3}"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B920709D-BF3C-5743-B60D-B01C16014A7B}"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B04444B0-6575-954F-AAA2-CB0D0417F745}"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DE7A436-9AA5-6C4B-AFF1-C34F60A9AB89}"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BF141C7-EF5A-1D4A-89F0-79C7DE818D53}"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8C868A0C-C998-984C-ABE3-A33473D7CABD}"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BDD2EF84-6667-8447-AC88-082F9D71D82C}" type="datetime1">
              <a:rPr lang="en-IN" smtClean="0"/>
            </a:fld>
            <a:endParaRPr lang="en-US"/>
          </a:p>
        </p:txBody>
      </p:sp>
      <p:sp>
        <p:nvSpPr>
          <p:cNvPr id="5" name="Footer Placeholder 4"/>
          <p:cNvSpPr>
            <a:spLocks noGrp="1"/>
          </p:cNvSpPr>
          <p:nvPr>
            <p:ph type="ftr" sz="quarter" idx="11"/>
          </p:nvPr>
        </p:nvSpPr>
        <p:spPr/>
        <p:txBody>
          <a:bodyPr/>
          <a:lstStyle/>
          <a:p>
            <a:r>
              <a:rPr lang="en-US"/>
              <a:t>0th REVIEW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61563FD6-5C64-304A-9680-469E8D83D1BF}" type="datetime1">
              <a:rPr lang="en-IN" smtClean="0"/>
            </a:fld>
            <a:endParaRPr lang="en-US"/>
          </a:p>
        </p:txBody>
      </p:sp>
      <p:sp>
        <p:nvSpPr>
          <p:cNvPr id="6" name="Footer Placeholder 5"/>
          <p:cNvSpPr>
            <a:spLocks noGrp="1"/>
          </p:cNvSpPr>
          <p:nvPr>
            <p:ph type="ftr" sz="quarter" idx="11"/>
          </p:nvPr>
        </p:nvSpPr>
        <p:spPr/>
        <p:txBody>
          <a:bodyPr/>
          <a:lstStyle/>
          <a:p>
            <a:r>
              <a:rPr lang="en-US"/>
              <a:t>0th REVIEW         173030211           Department of CSE</a:t>
            </a:r>
            <a:endParaRPr lang="en-US"/>
          </a:p>
        </p:txBody>
      </p:sp>
      <p:sp>
        <p:nvSpPr>
          <p:cNvPr id="7" name="Slide Number Placeholder 6"/>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D93985EC-8C41-0649-B43C-28421C497AA5}" type="datetime1">
              <a:rPr lang="en-IN" smtClean="0"/>
            </a:fld>
            <a:endParaRPr lang="en-US"/>
          </a:p>
        </p:txBody>
      </p:sp>
      <p:sp>
        <p:nvSpPr>
          <p:cNvPr id="8" name="Footer Placeholder 7"/>
          <p:cNvSpPr>
            <a:spLocks noGrp="1"/>
          </p:cNvSpPr>
          <p:nvPr>
            <p:ph type="ftr" sz="quarter" idx="11"/>
          </p:nvPr>
        </p:nvSpPr>
        <p:spPr/>
        <p:txBody>
          <a:bodyPr/>
          <a:lstStyle/>
          <a:p>
            <a:r>
              <a:rPr lang="en-US"/>
              <a:t>0th REVIEW         173030211           Department of CSE</a:t>
            </a:r>
            <a:endParaRPr lang="en-US"/>
          </a:p>
        </p:txBody>
      </p:sp>
      <p:sp>
        <p:nvSpPr>
          <p:cNvPr id="9" name="Slide Number Placeholder 8"/>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a:t>
            </a:r>
            <a:r>
              <a:rPr lang="en-US" altLang="en-US" sz="2400" dirty="0">
                <a:solidFill>
                  <a:srgbClr val="FF0000"/>
                </a:solidFill>
                <a:latin typeface="+mn-lt"/>
                <a:cs typeface="Arial" panose="020B0604020202020204" pitchFamily="34" charset="0"/>
              </a:rPr>
              <a:t>Group Based Expense Sharing Tool</a:t>
            </a:r>
            <a:endParaRPr lang="en-US" altLang="en-US" sz="2400" dirty="0">
              <a:solidFill>
                <a:srgbClr val="FF0000"/>
              </a:solidFill>
              <a:latin typeface="+mn-lt"/>
              <a:cs typeface="Arial" panose="020B0604020202020204" pitchFamily="34" charset="0"/>
            </a:endParaRPr>
          </a:p>
        </p:txBody>
      </p:sp>
      <p:sp>
        <p:nvSpPr>
          <p:cNvPr id="3" name="Content Placeholder 2"/>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IN" altLang="en-US" sz="9600" dirty="0"/>
              <a:t>B.ROHAN RAJA GOPAL</a:t>
            </a:r>
            <a:endParaRPr lang="en-US" sz="9600" dirty="0"/>
          </a:p>
          <a:p>
            <a:pPr marL="0" indent="0" algn="ctr">
              <a:buNone/>
            </a:pPr>
            <a:r>
              <a:rPr lang="en-US" sz="9600" dirty="0"/>
              <a:t>Student ID: 2</a:t>
            </a:r>
            <a:r>
              <a:rPr lang="en-IN" altLang="en-US" sz="9600" dirty="0"/>
              <a:t>520030319</a:t>
            </a:r>
            <a:r>
              <a:rPr lang="en-US" sz="2400" dirty="0"/>
              <a:t>)</a:t>
            </a:r>
            <a:endParaRPr lang="en-US" sz="2400" dirty="0"/>
          </a:p>
          <a:p>
            <a:pPr marL="0" indent="0" algn="ctr">
              <a:buNone/>
            </a:pPr>
            <a:r>
              <a:rPr lang="en-US" sz="11200" dirty="0" err="1"/>
              <a:t>Cluster:</a:t>
            </a:r>
            <a:r>
              <a:rPr lang="en-IN" altLang="en-US" sz="11200" dirty="0" err="1"/>
              <a:t>01</a:t>
            </a:r>
            <a:endParaRPr lang="en-US" sz="11200" dirty="0"/>
          </a:p>
          <a:p>
            <a:pPr marL="0" indent="0" algn="ctr">
              <a:buNone/>
            </a:pPr>
            <a:r>
              <a:rPr lang="en-US" sz="11200" dirty="0"/>
              <a:t>Section: </a:t>
            </a:r>
            <a:r>
              <a:rPr lang="en-IN" altLang="en-US" sz="11200" dirty="0"/>
              <a:t>2</a:t>
            </a:r>
            <a:endParaRPr lang="en-IN" altLang="en-US" sz="11200" dirty="0"/>
          </a:p>
        </p:txBody>
      </p:sp>
      <p:sp>
        <p:nvSpPr>
          <p:cNvPr id="6" name="Date Placeholder 5"/>
          <p:cNvSpPr>
            <a:spLocks noGrp="1"/>
          </p:cNvSpPr>
          <p:nvPr>
            <p:ph type="dt" sz="half" idx="10"/>
          </p:nvPr>
        </p:nvSpPr>
        <p:spPr/>
        <p:txBody>
          <a:bodyPr/>
          <a:lstStyle/>
          <a:p>
            <a:fld id="{D4ABCEED-36AB-D94A-B562-4D3E096B39D1}" type="datetime1">
              <a:rPr lang="en-IN" smtClean="0"/>
            </a:fld>
            <a:endParaRPr lang="en-US"/>
          </a:p>
        </p:txBody>
      </p:sp>
      <p:pic>
        <p:nvPicPr>
          <p:cNvPr id="12" name="Picture 11" descr="A picture containing shape&#10;&#10;Description automatically generated"/>
          <p:cNvPicPr>
            <a:picLocks noChangeAspect="1"/>
          </p:cNvPicPr>
          <p:nvPr/>
        </p:nvPicPr>
        <p:blipFill>
          <a:blip r:embed="rId1"/>
          <a:stretch>
            <a:fillRect/>
          </a:stretch>
        </p:blipFill>
        <p:spPr>
          <a:xfrm>
            <a:off x="5403351" y="5172128"/>
            <a:ext cx="1725712" cy="930978"/>
          </a:xfrm>
          <a:prstGeom prst="rect">
            <a:avLst/>
          </a:prstGeom>
        </p:spPr>
      </p:pic>
      <p:sp>
        <p:nvSpPr>
          <p:cNvPr id="13" name="Content Placeholder 3"/>
          <p:cNvSpPr txBox="1"/>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endParaRPr lang="en-US" sz="8600" dirty="0"/>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a:t>
            </a:r>
            <a:r>
              <a:rPr lang="en-IN" altLang="en-US" sz="8600" dirty="0">
                <a:solidFill>
                  <a:srgbClr val="00B050"/>
                </a:solidFill>
              </a:rPr>
              <a:t>MS.Swetha</a:t>
            </a:r>
            <a:endParaRPr lang="en-US" sz="8600" dirty="0">
              <a:solidFill>
                <a:srgbClr val="00B050"/>
              </a:solidFill>
            </a:endParaRPr>
          </a:p>
          <a:p>
            <a:pPr marL="0" indent="0" algn="ctr">
              <a:buNone/>
            </a:pPr>
            <a:r>
              <a:rPr lang="en-US" sz="8600" dirty="0">
                <a:solidFill>
                  <a:srgbClr val="00B050"/>
                </a:solidFill>
              </a:rPr>
              <a:t>Assistant Professor</a:t>
            </a:r>
            <a:endParaRPr lang="en-US" sz="8600" dirty="0">
              <a:solidFill>
                <a:srgbClr val="00B050"/>
              </a:solidFill>
            </a:endParaRPr>
          </a:p>
          <a:p>
            <a:pPr marL="0" indent="0" algn="ctr">
              <a:buNone/>
            </a:pPr>
            <a:r>
              <a:rPr lang="en-US" sz="8600" dirty="0">
                <a:solidFill>
                  <a:srgbClr val="00B050"/>
                </a:solidFill>
              </a:rPr>
              <a:t>Department of CSE</a:t>
            </a:r>
            <a:endParaRPr lang="en-US" sz="8600" dirty="0">
              <a:solidFill>
                <a:srgbClr val="00B050"/>
              </a:solidFill>
            </a:endParaRP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OUTLINE</a:t>
            </a:r>
            <a:endParaRPr lang="en-US" b="1" dirty="0"/>
          </a:p>
        </p:txBody>
      </p:sp>
      <p:sp>
        <p:nvSpPr>
          <p:cNvPr id="9" name="Content Placeholder 8"/>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endParaRPr lang="en-IN" dirty="0"/>
          </a:p>
          <a:p>
            <a:pPr marL="514350" indent="-514350">
              <a:buFont typeface="+mj-lt"/>
              <a:buAutoNum type="arabicPeriod"/>
            </a:pPr>
            <a:r>
              <a:rPr lang="en-IN" dirty="0"/>
              <a:t>Existing System </a:t>
            </a:r>
            <a:endParaRPr lang="en-IN" dirty="0"/>
          </a:p>
          <a:p>
            <a:pPr marL="514350" indent="-514350">
              <a:buFont typeface="+mj-lt"/>
              <a:buAutoNum type="arabicPeriod"/>
            </a:pPr>
            <a:r>
              <a:rPr lang="en-IN" dirty="0"/>
              <a:t>Proposed System</a:t>
            </a:r>
            <a:endParaRPr lang="en-IN" dirty="0"/>
          </a:p>
          <a:p>
            <a:pPr marL="514350" indent="-514350">
              <a:buFont typeface="+mj-lt"/>
              <a:buAutoNum type="arabicPeriod"/>
            </a:pPr>
            <a:r>
              <a:rPr lang="en-IN" dirty="0"/>
              <a:t>System Architecture</a:t>
            </a:r>
            <a:endParaRPr lang="en-IN" dirty="0"/>
          </a:p>
          <a:p>
            <a:pPr marL="514350" indent="-514350">
              <a:buFont typeface="+mj-lt"/>
              <a:buAutoNum type="arabicPeriod"/>
            </a:pPr>
            <a:r>
              <a:rPr lang="en-IN" dirty="0"/>
              <a:t>Project Modules</a:t>
            </a:r>
            <a:endParaRPr lang="en-IN" dirty="0"/>
          </a:p>
          <a:p>
            <a:pPr marL="514350" indent="-514350">
              <a:buFont typeface="+mj-lt"/>
              <a:buAutoNum type="arabicPeriod"/>
            </a:pPr>
            <a:r>
              <a:rPr lang="en-IN" dirty="0"/>
              <a:t>Objectives </a:t>
            </a:r>
            <a:endParaRPr lang="en-IN" dirty="0"/>
          </a:p>
          <a:p>
            <a:pPr marL="514350" indent="-514350">
              <a:buFont typeface="+mj-lt"/>
              <a:buAutoNum type="arabicPeriod"/>
            </a:pPr>
            <a:r>
              <a:rPr lang="en-IN" dirty="0"/>
              <a:t>Co’s Attainments - FWD</a:t>
            </a:r>
            <a:endParaRPr lang="en-IN" dirty="0"/>
          </a:p>
          <a:p>
            <a:pPr marL="971550" lvl="1" indent="-514350">
              <a:buFont typeface="+mj-lt"/>
              <a:buAutoNum type="arabicPeriod"/>
            </a:pPr>
            <a:r>
              <a:rPr lang="en-IN" dirty="0"/>
              <a:t>Co1</a:t>
            </a:r>
            <a:endParaRPr lang="en-IN" dirty="0"/>
          </a:p>
          <a:p>
            <a:pPr marL="971550" lvl="1" indent="-514350">
              <a:buFont typeface="+mj-lt"/>
              <a:buAutoNum type="arabicPeriod"/>
            </a:pPr>
            <a:r>
              <a:rPr lang="en-IN" dirty="0"/>
              <a:t>Co2 …….. 5. Co5</a:t>
            </a:r>
            <a:endParaRPr lang="en-IN" dirty="0"/>
          </a:p>
          <a:p>
            <a:pPr marL="514350" indent="-514350">
              <a:buFont typeface="+mj-lt"/>
              <a:buAutoNum type="arabicPeriod"/>
            </a:pPr>
            <a:r>
              <a:rPr lang="en-IN" dirty="0"/>
              <a:t>Co’s Attainments - DSA</a:t>
            </a:r>
            <a:endParaRPr lang="en-IN" dirty="0"/>
          </a:p>
          <a:p>
            <a:pPr marL="971550" lvl="1" indent="-514350">
              <a:buFont typeface="+mj-lt"/>
              <a:buAutoNum type="arabicPeriod"/>
            </a:pPr>
            <a:r>
              <a:rPr lang="en-IN" dirty="0"/>
              <a:t>Co1</a:t>
            </a:r>
            <a:endParaRPr lang="en-IN" dirty="0"/>
          </a:p>
          <a:p>
            <a:pPr marL="971550" lvl="1" indent="-514350">
              <a:buFont typeface="+mj-lt"/>
              <a:buAutoNum type="arabicPeriod"/>
            </a:pPr>
            <a:r>
              <a:rPr lang="en-IN" dirty="0"/>
              <a:t>Co2 …….. 5. Co5</a:t>
            </a:r>
            <a:endParaRPr lang="en-IN" dirty="0"/>
          </a:p>
          <a:p>
            <a:pPr marL="514350" indent="-514350">
              <a:buFont typeface="+mj-lt"/>
              <a:buAutoNum type="arabicPeriod"/>
            </a:pPr>
            <a:r>
              <a:rPr lang="en-IN" dirty="0"/>
              <a:t>Screen Shots for FWD &amp; DSA</a:t>
            </a:r>
            <a:endParaRPr lang="en-IN" dirty="0"/>
          </a:p>
          <a:p>
            <a:pPr marL="514350" indent="-514350">
              <a:buFont typeface="+mj-lt"/>
              <a:buAutoNum type="arabicPeriod"/>
            </a:pPr>
            <a:r>
              <a:rPr lang="en-IN" dirty="0"/>
              <a:t>Conclusion</a:t>
            </a:r>
            <a:endParaRPr lang="en-IN" dirty="0"/>
          </a:p>
          <a:p>
            <a:pPr marL="514350" indent="-514350">
              <a:buFont typeface="+mj-lt"/>
              <a:buAutoNum type="arabicPeriod"/>
            </a:pPr>
            <a:r>
              <a:rPr lang="en-IN" dirty="0"/>
              <a:t>Geo-Tagged Photos</a:t>
            </a:r>
            <a:endParaRPr lang="en-IN" dirty="0"/>
          </a:p>
          <a:p>
            <a:pPr marL="514350" indent="-514350">
              <a:buFont typeface="+mj-lt"/>
              <a:buAutoNum type="arabicPeriod"/>
            </a:pPr>
            <a:endParaRPr lang="en-IN" dirty="0"/>
          </a:p>
          <a:p>
            <a:endParaRPr lang="en-US" dirty="0"/>
          </a:p>
        </p:txBody>
      </p:sp>
      <p:sp>
        <p:nvSpPr>
          <p:cNvPr id="5" name="Date Placeholder 4"/>
          <p:cNvSpPr>
            <a:spLocks noGrp="1"/>
          </p:cNvSpPr>
          <p:nvPr>
            <p:ph type="dt" sz="half" idx="10"/>
          </p:nvPr>
        </p:nvSpPr>
        <p:spPr/>
        <p:txBody>
          <a:bodyPr/>
          <a:lstStyle/>
          <a:p>
            <a:fld id="{5D381120-93CB-BF4D-9125-DC4781C9106A}"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84963" y="311150"/>
            <a:ext cx="10173182" cy="1128009"/>
          </a:xfrm>
        </p:spPr>
        <p:txBody>
          <a:bodyPr/>
          <a:lstStyle/>
          <a:p>
            <a:pPr algn="ctr"/>
            <a:r>
              <a:rPr lang="en-US" b="1" dirty="0"/>
              <a:t>Abstract</a:t>
            </a:r>
            <a:endParaRPr lang="en-US" b="1" dirty="0"/>
          </a:p>
        </p:txBody>
      </p:sp>
      <p:sp>
        <p:nvSpPr>
          <p:cNvPr id="9" name="Content Placeholder 8"/>
          <p:cNvSpPr>
            <a:spLocks noGrp="1"/>
          </p:cNvSpPr>
          <p:nvPr>
            <p:ph idx="1"/>
          </p:nvPr>
        </p:nvSpPr>
        <p:spPr>
          <a:xfrm>
            <a:off x="511810" y="1438910"/>
            <a:ext cx="10515600" cy="4654550"/>
          </a:xfrm>
        </p:spPr>
        <p:txBody>
          <a:bodyPr>
            <a:normAutofit fontScale="90000" lnSpcReduction="10000"/>
          </a:bodyPr>
          <a:lstStyle/>
          <a:p>
            <a:r>
              <a:rPr lang="en-US" altLang="en-US" dirty="0"/>
              <a:t>The Group Based Expense Sharing Tool is a Java-based web project developed to simplify the process of managing and splitting expenses among a group of users. In many situations such as trips, hostel living, or team activities, tracking shared expenses manually can be confusing and time-consuming. This project allows users to add group members, record expenses paid by each person, and automatically calculate the total expenditure and individual share.</a:t>
            </a:r>
            <a:endParaRPr lang="en-US" altLang="en-US" dirty="0"/>
          </a:p>
          <a:p>
            <a:endParaRPr lang="en-US" altLang="en-US" dirty="0"/>
          </a:p>
          <a:p>
            <a:r>
              <a:rPr lang="en-US" altLang="en-US" dirty="0"/>
              <a:t>The project uses HTML and CSS to design user-friendly and attractive webpages for entering and viewing expense details, while Java is used to perform calculations and manage data. The tool ensures fair expense distribution by showing how much each member has paid and how much they owe or should receive. It reduces calculation errors, saves time, and makes group expense management simple and efficient</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703098" y="365125"/>
            <a:ext cx="10173182" cy="1128009"/>
          </a:xfrm>
        </p:spPr>
        <p:txBody>
          <a:bodyPr/>
          <a:lstStyle/>
          <a:p>
            <a:pPr algn="ctr"/>
            <a:r>
              <a:rPr lang="en-US" b="1" dirty="0"/>
              <a:t>Existing System </a:t>
            </a:r>
            <a:endParaRPr lang="en-US" b="1" dirty="0"/>
          </a:p>
        </p:txBody>
      </p:sp>
      <p:sp>
        <p:nvSpPr>
          <p:cNvPr id="9" name="Content Placeholder 8"/>
          <p:cNvSpPr>
            <a:spLocks noGrp="1"/>
          </p:cNvSpPr>
          <p:nvPr>
            <p:ph idx="1"/>
          </p:nvPr>
        </p:nvSpPr>
        <p:spPr>
          <a:xfrm>
            <a:off x="478155" y="1683385"/>
            <a:ext cx="10515600" cy="4351338"/>
          </a:xfrm>
        </p:spPr>
        <p:txBody>
          <a:bodyPr>
            <a:normAutofit lnSpcReduction="10000"/>
          </a:bodyPr>
          <a:lstStyle/>
          <a:p>
            <a:pPr marL="457200" lvl="1" indent="-339725" algn="just"/>
            <a:r>
              <a:rPr lang="en-US" altLang="en-US" dirty="0"/>
              <a:t>In the existing system, group expenses are usually managed manually using notebooks, spreadsheets, or messaging applications. This method has several limitations:</a:t>
            </a:r>
            <a:endParaRPr lang="en-US" altLang="en-US" dirty="0"/>
          </a:p>
          <a:p>
            <a:pPr marL="457200" lvl="1" indent="-339725" algn="just"/>
            <a:endParaRPr lang="en-US" altLang="en-US" dirty="0"/>
          </a:p>
          <a:p>
            <a:pPr marL="457200" lvl="1" indent="-339725" algn="just"/>
            <a:r>
              <a:rPr lang="en-US" altLang="en-US" dirty="0"/>
              <a:t>• Difficult to track multiple transactions</a:t>
            </a:r>
            <a:endParaRPr lang="en-US" altLang="en-US" dirty="0"/>
          </a:p>
          <a:p>
            <a:pPr marL="457200" lvl="1" indent="-339725" algn="just"/>
            <a:r>
              <a:rPr lang="en-US" altLang="en-US" dirty="0"/>
              <a:t>• High chances of calculation errors</a:t>
            </a:r>
            <a:endParaRPr lang="en-US" altLang="en-US" dirty="0"/>
          </a:p>
          <a:p>
            <a:pPr marL="457200" lvl="1" indent="-339725" algn="just"/>
            <a:r>
              <a:rPr lang="en-US" altLang="en-US" dirty="0"/>
              <a:t>• Time-consuming manual calculations</a:t>
            </a:r>
            <a:endParaRPr lang="en-US" altLang="en-US" dirty="0"/>
          </a:p>
          <a:p>
            <a:pPr marL="457200" lvl="1" indent="-339725" algn="just"/>
            <a:r>
              <a:rPr lang="en-US" altLang="en-US" dirty="0"/>
              <a:t>• Lack of proper organization of expense data</a:t>
            </a:r>
            <a:endParaRPr lang="en-US" altLang="en-US" dirty="0"/>
          </a:p>
          <a:p>
            <a:pPr marL="457200" lvl="1" indent="-339725" algn="just"/>
            <a:r>
              <a:rPr lang="en-US" altLang="en-US" dirty="0"/>
              <a:t>• No automated settlement calculation</a:t>
            </a:r>
            <a:endParaRPr lang="en-US" altLang="en-US" dirty="0"/>
          </a:p>
          <a:p>
            <a:pPr marL="457200" lvl="1" indent="-339725" algn="just"/>
            <a:endParaRPr lang="en-US" altLang="en-US" dirty="0"/>
          </a:p>
          <a:p>
            <a:pPr marL="457200" lvl="1" indent="-339725" algn="just"/>
            <a:r>
              <a:rPr lang="en-US" altLang="en-US" dirty="0"/>
              <a:t>Because of these limitations, managing group expenses becomes complicated and inefficient</a:t>
            </a:r>
            <a:endParaRPr lang="en-US" altLang="en-US" dirty="0"/>
          </a:p>
        </p:txBody>
      </p:sp>
      <p:sp>
        <p:nvSpPr>
          <p:cNvPr id="5" name="Date Placeholder 4"/>
          <p:cNvSpPr>
            <a:spLocks noGrp="1"/>
          </p:cNvSpPr>
          <p:nvPr>
            <p:ph type="dt" sz="half" idx="10"/>
          </p:nvPr>
        </p:nvSpPr>
        <p:spPr/>
        <p:txBody>
          <a:bodyPr/>
          <a:lstStyle/>
          <a:p>
            <a:fld id="{22CB9F02-6AB8-A348-9013-8FCBB8174821}"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82778" y="474345"/>
            <a:ext cx="10173182" cy="1128009"/>
          </a:xfrm>
        </p:spPr>
        <p:txBody>
          <a:bodyPr/>
          <a:lstStyle/>
          <a:p>
            <a:pPr algn="ctr"/>
            <a:r>
              <a:rPr lang="en-US" b="1" dirty="0"/>
              <a:t>Proposed System</a:t>
            </a:r>
            <a:endParaRPr lang="en-US" b="1" dirty="0"/>
          </a:p>
        </p:txBody>
      </p:sp>
      <p:sp>
        <p:nvSpPr>
          <p:cNvPr id="9" name="Content Placeholder 8"/>
          <p:cNvSpPr>
            <a:spLocks noGrp="1"/>
          </p:cNvSpPr>
          <p:nvPr>
            <p:ph idx="1"/>
          </p:nvPr>
        </p:nvSpPr>
        <p:spPr>
          <a:xfrm>
            <a:off x="511810" y="1748790"/>
            <a:ext cx="10515600" cy="4351338"/>
          </a:xfrm>
        </p:spPr>
        <p:txBody>
          <a:bodyPr>
            <a:normAutofit lnSpcReduction="10000"/>
          </a:bodyPr>
          <a:lstStyle/>
          <a:p>
            <a:r>
              <a:rPr lang="en-US" altLang="en-US" dirty="0"/>
              <a:t>The proposed system is a Group Based Expense Sharing Tool designed to simplify the management of shared expenses. The application allows users to add group members, record payments, and automatically calculate the total expenses and equal share for each member.</a:t>
            </a:r>
            <a:endParaRPr lang="en-US" altLang="en-US" dirty="0"/>
          </a:p>
          <a:p>
            <a:endParaRPr lang="en-US" altLang="en-US" dirty="0"/>
          </a:p>
          <a:p>
            <a:r>
              <a:rPr lang="en-US" altLang="en-US" dirty="0"/>
              <a:t>The system uses HTML and CSS for designing the user interface and JavaScript for implementing application logic. Additionally, various Data Structures and Algorithms are implemented to manage data efficiently. The system provides clear settlement results indicating which member should pay or receive money.</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System Architecture</a:t>
            </a:r>
            <a:endParaRPr lang="en-US" b="1" dirty="0"/>
          </a:p>
        </p:txBody>
      </p:sp>
      <p:sp>
        <p:nvSpPr>
          <p:cNvPr id="9" name="Content Placeholder 8"/>
          <p:cNvSpPr>
            <a:spLocks noGrp="1"/>
          </p:cNvSpPr>
          <p:nvPr>
            <p:ph idx="1"/>
          </p:nvPr>
        </p:nvSpPr>
        <p:spPr>
          <a:xfrm>
            <a:off x="478155" y="1063625"/>
            <a:ext cx="10515600" cy="4351338"/>
          </a:xfrm>
        </p:spPr>
        <p:txBody>
          <a:bodyPr>
            <a:normAutofit/>
          </a:bodyPr>
          <a:lstStyle/>
          <a:p>
            <a:endParaRPr lang="en-US" b="1" dirty="0"/>
          </a:p>
          <a:p>
            <a:endParaRPr lang="en-US" b="1" dirty="0"/>
          </a:p>
          <a:p>
            <a:endParaRPr lang="en-US" b="1"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graphicFrame>
        <p:nvGraphicFramePr>
          <p:cNvPr id="4" name="Table 3"/>
          <p:cNvGraphicFramePr/>
          <p:nvPr/>
        </p:nvGraphicFramePr>
        <p:xfrm>
          <a:off x="838200" y="1275080"/>
          <a:ext cx="10485120" cy="0"/>
        </p:xfrm>
        <a:graphic>
          <a:graphicData uri="http://schemas.openxmlformats.org/drawingml/2006/table">
            <a:tbl>
              <a:tblPr/>
              <a:tblGrid>
                <a:gridCol w="2621280"/>
                <a:gridCol w="2621280"/>
                <a:gridCol w="2621280"/>
                <a:gridCol w="2621280"/>
              </a:tblGrid>
              <a:tr h="0">
                <a:tc>
                  <a:txBody>
                    <a:bodyPr/>
                    <a:p>
                      <a:r>
                        <a:rPr sz="1400"/>
                        <a:t>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Components</a:t>
                      </a:r>
                      <a:endParaRPr sz="1400"/>
                    </a:p>
                  </a:txBody>
                  <a:tcPr marL="0" marR="0" marT="0" marB="0" anchor="ctr" anchorCtr="0">
                    <a:lnL>
                      <a:noFill/>
                    </a:lnL>
                    <a:lnR>
                      <a:noFill/>
                    </a:lnR>
                    <a:lnT>
                      <a:noFill/>
                    </a:lnT>
                    <a:lnB>
                      <a:noFill/>
                    </a:lnB>
                    <a:solidFill>
                      <a:schemeClr val="bg1">
                        <a:lumMod val="85000"/>
                      </a:schemeClr>
                    </a:solidFill>
                  </a:tcPr>
                </a:tc>
                <a:tc>
                  <a:txBody>
                    <a:bodyPr/>
                    <a:p>
                      <a:r>
                        <a:rPr sz="1400"/>
                        <a:t>Technologies Used</a:t>
                      </a:r>
                      <a:endParaRPr sz="1400"/>
                    </a:p>
                  </a:txBody>
                  <a:tcPr marL="0" marR="0" marT="0" marB="0" anchor="ctr" anchorCtr="0">
                    <a:lnL>
                      <a:noFill/>
                    </a:lnL>
                    <a:lnR>
                      <a:noFill/>
                    </a:lnR>
                    <a:lnT>
                      <a:noFill/>
                    </a:lnT>
                    <a:lnB>
                      <a:noFill/>
                    </a:lnB>
                    <a:solidFill>
                      <a:schemeClr val="bg1">
                        <a:lumMod val="85000"/>
                      </a:schemeClr>
                    </a:solidFill>
                  </a:tcPr>
                </a:tc>
                <a:tc>
                  <a:txBody>
                    <a:bodyPr/>
                    <a:p>
                      <a:r>
                        <a:rPr sz="1400"/>
                        <a:t>Description</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Presentation Layer (User Interface)</a:t>
                      </a:r>
                      <a:endParaRPr sz="1400"/>
                    </a:p>
                  </a:txBody>
                  <a:tcPr marL="0" marR="0" marT="0" marB="0" anchor="ctr" anchorCtr="0">
                    <a:lnL>
                      <a:noFill/>
                    </a:lnL>
                    <a:lnR>
                      <a:noFill/>
                    </a:lnR>
                    <a:lnT>
                      <a:noFill/>
                    </a:lnT>
                    <a:lnB>
                      <a:noFill/>
                    </a:lnB>
                    <a:solidFill>
                      <a:schemeClr val="bg1">
                        <a:lumMod val="85000"/>
                      </a:schemeClr>
                    </a:solidFill>
                  </a:tcPr>
                </a:tc>
                <a:tc>
                  <a:txBody>
                    <a:bodyPr/>
                    <a:p>
                      <a:r>
                        <a:rPr sz="1400"/>
                        <a:t>Dashboard, Member Input Form, Expense Form, Transaction Table, Balance Display</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HTML, CSS</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handles the interaction between the user and the application. It displays the user interface where users can add members, enter expenses, and view results.</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Application Logic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Expense Calculation Module, Member Management Module, Settlement Calculation</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processes user inputs and performs calculations such as total expense, equal share, and settlement between members.</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Data Structure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Arrays, Stack, Queue, Hash Map</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manages the storage and processing of data using data structures such as arrays for members, stack for transactions, queue for processing members, and hash map for storing balances.</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Algorithm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Searching Algorithms, Sorting Algorithms, Settlement Algorithm</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Algorithms are used to search members, sort balances, and calculate settlements efficiently.</a:t>
                      </a:r>
                      <a:endParaRPr sz="1400"/>
                    </a:p>
                  </a:txBody>
                  <a:tcPr marL="0" marR="0" marT="0" marB="0" anchor="ctr" anchorCtr="0">
                    <a:lnL>
                      <a:noFill/>
                    </a:lnL>
                    <a:lnR>
                      <a:noFill/>
                    </a:lnR>
                    <a:lnT>
                      <a:noFill/>
                    </a:lnT>
                    <a:lnB>
                      <a:noFill/>
                    </a:lnB>
                    <a:solidFill>
                      <a:schemeClr val="bg1">
                        <a:lumMod val="85000"/>
                      </a:schemeClr>
                    </a:solidFill>
                  </a:tcPr>
                </a:tc>
              </a:tr>
              <a:tr h="0">
                <a:tc>
                  <a:txBody>
                    <a:bodyPr/>
                    <a:p>
                      <a:r>
                        <a:rPr sz="1400"/>
                        <a:t>Output Layer</a:t>
                      </a:r>
                      <a:endParaRPr sz="1400"/>
                    </a:p>
                  </a:txBody>
                  <a:tcPr marL="0" marR="0" marT="0" marB="0" anchor="ctr" anchorCtr="0">
                    <a:lnL>
                      <a:noFill/>
                    </a:lnL>
                    <a:lnR>
                      <a:noFill/>
                    </a:lnR>
                    <a:lnT>
                      <a:noFill/>
                    </a:lnT>
                    <a:lnB>
                      <a:noFill/>
                    </a:lnB>
                    <a:solidFill>
                      <a:schemeClr val="bg1">
                        <a:lumMod val="85000"/>
                      </a:schemeClr>
                    </a:solidFill>
                  </a:tcPr>
                </a:tc>
                <a:tc>
                  <a:txBody>
                    <a:bodyPr/>
                    <a:p>
                      <a:r>
                        <a:rPr sz="1400"/>
                        <a:t>Transaction History Display, Balance Summary, Settlement Results</a:t>
                      </a:r>
                      <a:endParaRPr sz="1400"/>
                    </a:p>
                  </a:txBody>
                  <a:tcPr marL="0" marR="0" marT="0" marB="0" anchor="ctr" anchorCtr="0">
                    <a:lnL>
                      <a:noFill/>
                    </a:lnL>
                    <a:lnR>
                      <a:noFill/>
                    </a:lnR>
                    <a:lnT>
                      <a:noFill/>
                    </a:lnT>
                    <a:lnB>
                      <a:noFill/>
                    </a:lnB>
                    <a:solidFill>
                      <a:schemeClr val="bg1">
                        <a:lumMod val="85000"/>
                      </a:schemeClr>
                    </a:solidFill>
                  </a:tcPr>
                </a:tc>
                <a:tc>
                  <a:txBody>
                    <a:bodyPr/>
                    <a:p>
                      <a:r>
                        <a:rPr lang="en-IN" sz="1400"/>
                        <a:t>    </a:t>
                      </a:r>
                      <a:r>
                        <a:rPr sz="1400"/>
                        <a:t>HTML, JavaScript</a:t>
                      </a:r>
                      <a:endParaRPr sz="1400"/>
                    </a:p>
                  </a:txBody>
                  <a:tcPr marL="0" marR="0" marT="0" marB="0" anchor="ctr" anchorCtr="0">
                    <a:lnL>
                      <a:noFill/>
                    </a:lnL>
                    <a:lnR>
                      <a:noFill/>
                    </a:lnR>
                    <a:lnT>
                      <a:noFill/>
                    </a:lnT>
                    <a:lnB>
                      <a:noFill/>
                    </a:lnB>
                    <a:solidFill>
                      <a:schemeClr val="bg1">
                        <a:lumMod val="85000"/>
                      </a:schemeClr>
                    </a:solidFill>
                  </a:tcPr>
                </a:tc>
                <a:tc>
                  <a:txBody>
                    <a:bodyPr/>
                    <a:p>
                      <a:r>
                        <a:rPr sz="1400"/>
                        <a:t>This layer presents the calculated results to the user in a structured format such as tables and lists.</a:t>
                      </a:r>
                      <a:endParaRPr sz="1400"/>
                    </a:p>
                  </a:txBody>
                  <a:tcPr marL="0" marR="0" marT="0" marB="0" anchor="ctr" anchorCtr="0">
                    <a:lnL>
                      <a:noFill/>
                    </a:lnL>
                    <a:lnR>
                      <a:noFill/>
                    </a:lnR>
                    <a:lnT>
                      <a:noFill/>
                    </a:lnT>
                    <a:lnB>
                      <a:noFill/>
                    </a:lnB>
                    <a:solidFill>
                      <a:schemeClr val="bg1">
                        <a:lumMod val="85000"/>
                      </a:schemeClr>
                    </a:solidFill>
                  </a:tcPr>
                </a:tc>
              </a:tr>
            </a:tbl>
          </a:graphicData>
        </a:graphic>
      </p:graphicFrame>
      <p:cxnSp>
        <p:nvCxnSpPr>
          <p:cNvPr id="11" name="Straight Connector 10"/>
          <p:cNvCxnSpPr/>
          <p:nvPr/>
        </p:nvCxnSpPr>
        <p:spPr>
          <a:xfrm flipH="1">
            <a:off x="3390900" y="1301750"/>
            <a:ext cx="16510" cy="4880610"/>
          </a:xfrm>
          <a:prstGeom prst="line">
            <a:avLst/>
          </a:prstGeom>
        </p:spPr>
        <p:style>
          <a:lnRef idx="2">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853440" y="1477010"/>
            <a:ext cx="10469880" cy="15875"/>
          </a:xfrm>
          <a:prstGeom prst="line">
            <a:avLst/>
          </a:prstGeom>
        </p:spPr>
        <p:style>
          <a:lnRef idx="2">
            <a:schemeClr val="accent1"/>
          </a:lnRef>
          <a:fillRef idx="0">
            <a:srgbClr val="FFFFFF"/>
          </a:fillRef>
          <a:effectRef idx="0">
            <a:srgbClr val="FFFFFF"/>
          </a:effectRef>
          <a:fontRef idx="minor">
            <a:schemeClr val="tx1"/>
          </a:fontRef>
        </p:style>
      </p:cxnSp>
      <p:cxnSp>
        <p:nvCxnSpPr>
          <p:cNvPr id="14" name="Straight Connector 13"/>
          <p:cNvCxnSpPr/>
          <p:nvPr/>
        </p:nvCxnSpPr>
        <p:spPr>
          <a:xfrm flipH="1">
            <a:off x="838200" y="2750185"/>
            <a:ext cx="10473690" cy="0"/>
          </a:xfrm>
          <a:prstGeom prst="line">
            <a:avLst/>
          </a:prstGeom>
        </p:spPr>
        <p:style>
          <a:lnRef idx="2">
            <a:schemeClr val="accent1"/>
          </a:lnRef>
          <a:fillRef idx="0">
            <a:srgbClr val="FFFFFF"/>
          </a:fillRef>
          <a:effectRef idx="0">
            <a:srgbClr val="FFFFFF"/>
          </a:effectRef>
          <a:fontRef idx="minor">
            <a:schemeClr val="tx1"/>
          </a:fontRef>
        </p:style>
      </p:cxnSp>
      <p:cxnSp>
        <p:nvCxnSpPr>
          <p:cNvPr id="15" name="Straight Connector 14"/>
          <p:cNvCxnSpPr/>
          <p:nvPr/>
        </p:nvCxnSpPr>
        <p:spPr>
          <a:xfrm flipH="1">
            <a:off x="853440" y="3620770"/>
            <a:ext cx="10475595" cy="0"/>
          </a:xfrm>
          <a:prstGeom prst="line">
            <a:avLst/>
          </a:prstGeom>
        </p:spPr>
        <p:style>
          <a:lnRef idx="2">
            <a:schemeClr val="accent1"/>
          </a:lnRef>
          <a:fillRef idx="0">
            <a:srgbClr val="FFFFFF"/>
          </a:fillRef>
          <a:effectRef idx="0">
            <a:srgbClr val="FFFFFF"/>
          </a:effectRef>
          <a:fontRef idx="minor">
            <a:schemeClr val="tx1"/>
          </a:fontRef>
        </p:style>
      </p:cxnSp>
      <p:cxnSp>
        <p:nvCxnSpPr>
          <p:cNvPr id="16" name="Straight Connector 15"/>
          <p:cNvCxnSpPr/>
          <p:nvPr/>
        </p:nvCxnSpPr>
        <p:spPr>
          <a:xfrm flipH="1" flipV="1">
            <a:off x="853440" y="4860290"/>
            <a:ext cx="10450195" cy="16510"/>
          </a:xfrm>
          <a:prstGeom prst="line">
            <a:avLst/>
          </a:prstGeom>
        </p:spPr>
        <p:style>
          <a:lnRef idx="2">
            <a:schemeClr val="accent1"/>
          </a:lnRef>
          <a:fillRef idx="0">
            <a:srgbClr val="FFFFFF"/>
          </a:fillRef>
          <a:effectRef idx="0">
            <a:srgbClr val="FFFFFF"/>
          </a:effectRef>
          <a:fontRef idx="minor">
            <a:schemeClr val="tx1"/>
          </a:fontRef>
        </p:style>
      </p:cxnSp>
      <p:cxnSp>
        <p:nvCxnSpPr>
          <p:cNvPr id="17" name="Straight Connector 16"/>
          <p:cNvCxnSpPr/>
          <p:nvPr/>
        </p:nvCxnSpPr>
        <p:spPr>
          <a:xfrm flipH="1">
            <a:off x="853440" y="5521960"/>
            <a:ext cx="10467340" cy="41910"/>
          </a:xfrm>
          <a:prstGeom prst="line">
            <a:avLst/>
          </a:prstGeom>
        </p:spPr>
        <p:style>
          <a:lnRef idx="2">
            <a:schemeClr val="accent1"/>
          </a:lnRef>
          <a:fillRef idx="0">
            <a:srgbClr val="FFFFFF"/>
          </a:fillRef>
          <a:effectRef idx="0">
            <a:srgbClr val="FFFFFF"/>
          </a:effectRef>
          <a:fontRef idx="minor">
            <a:schemeClr val="tx1"/>
          </a:fontRef>
        </p:style>
      </p:cxnSp>
      <p:cxnSp>
        <p:nvCxnSpPr>
          <p:cNvPr id="18" name="Straight Connector 17"/>
          <p:cNvCxnSpPr>
            <a:stCxn id="4" idx="0"/>
          </p:cNvCxnSpPr>
          <p:nvPr/>
        </p:nvCxnSpPr>
        <p:spPr>
          <a:xfrm>
            <a:off x="6080760" y="1275080"/>
            <a:ext cx="0" cy="4907280"/>
          </a:xfrm>
          <a:prstGeom prst="line">
            <a:avLst/>
          </a:prstGeom>
        </p:spPr>
        <p:style>
          <a:lnRef idx="2">
            <a:schemeClr val="accent1"/>
          </a:lnRef>
          <a:fillRef idx="0">
            <a:srgbClr val="FFFFFF"/>
          </a:fillRef>
          <a:effectRef idx="0">
            <a:srgbClr val="FFFFFF"/>
          </a:effectRef>
          <a:fontRef idx="minor">
            <a:schemeClr val="tx1"/>
          </a:fontRef>
        </p:style>
      </p:cxnSp>
      <p:cxnSp>
        <p:nvCxnSpPr>
          <p:cNvPr id="19" name="Straight Connector 18"/>
          <p:cNvCxnSpPr/>
          <p:nvPr/>
        </p:nvCxnSpPr>
        <p:spPr>
          <a:xfrm>
            <a:off x="8221980" y="1301750"/>
            <a:ext cx="59055" cy="488061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71703" y="10795"/>
            <a:ext cx="10173182" cy="1128009"/>
          </a:xfrm>
        </p:spPr>
        <p:txBody>
          <a:bodyPr/>
          <a:lstStyle/>
          <a:p>
            <a:pPr algn="ctr"/>
            <a:r>
              <a:rPr lang="en-US" b="1" dirty="0"/>
              <a:t>Project Modules</a:t>
            </a:r>
            <a:endParaRPr lang="en-US" b="1" dirty="0"/>
          </a:p>
        </p:txBody>
      </p:sp>
      <p:sp>
        <p:nvSpPr>
          <p:cNvPr id="9" name="Content Placeholder 8"/>
          <p:cNvSpPr>
            <a:spLocks noGrp="1"/>
          </p:cNvSpPr>
          <p:nvPr>
            <p:ph idx="1"/>
          </p:nvPr>
        </p:nvSpPr>
        <p:spPr>
          <a:xfrm>
            <a:off x="562610" y="937895"/>
            <a:ext cx="10515600" cy="4351338"/>
          </a:xfrm>
        </p:spPr>
        <p:txBody>
          <a:bodyPr>
            <a:normAutofit fontScale="25000"/>
          </a:bodyPr>
          <a:lstStyle/>
          <a:p>
            <a:pPr marL="0" indent="0">
              <a:buNone/>
            </a:pPr>
            <a:r>
              <a:rPr lang="en-US" altLang="en-US" sz="5600" dirty="0"/>
              <a:t>1. Member Management Module</a:t>
            </a:r>
            <a:endParaRPr lang="en-US" altLang="en-US" sz="5600" dirty="0"/>
          </a:p>
          <a:p>
            <a:r>
              <a:rPr lang="en-US" altLang="en-US" sz="5600" dirty="0"/>
              <a:t>Add and display group members</a:t>
            </a:r>
            <a:endParaRPr lang="en-US" altLang="en-US" sz="5600" dirty="0"/>
          </a:p>
          <a:p>
            <a:r>
              <a:rPr lang="en-US" altLang="en-US" sz="5600" dirty="0"/>
              <a:t>Store members using arrays</a:t>
            </a:r>
            <a:endParaRPr lang="en-US" altLang="en-US" sz="5600" dirty="0"/>
          </a:p>
          <a:p>
            <a:pPr marL="0" indent="0">
              <a:buNone/>
            </a:pPr>
            <a:r>
              <a:rPr lang="en-US" altLang="en-US" sz="5600" dirty="0"/>
              <a:t>2. Expense Management Module</a:t>
            </a:r>
            <a:endParaRPr lang="en-US" altLang="en-US" sz="5600" dirty="0"/>
          </a:p>
          <a:p>
            <a:r>
              <a:rPr lang="en-US" altLang="en-US" sz="5600" dirty="0"/>
              <a:t>Record expenses paid by members</a:t>
            </a:r>
            <a:endParaRPr lang="en-US" altLang="en-US" sz="5600" dirty="0"/>
          </a:p>
          <a:p>
            <a:r>
              <a:rPr lang="en-US" altLang="en-US" sz="5600" dirty="0"/>
              <a:t>Store expense data</a:t>
            </a:r>
            <a:endParaRPr lang="en-US" altLang="en-US" sz="5600" dirty="0"/>
          </a:p>
          <a:p>
            <a:pPr marL="0" indent="0">
              <a:buNone/>
            </a:pPr>
            <a:r>
              <a:rPr lang="en-US" altLang="en-US" sz="5600" dirty="0"/>
              <a:t>3. Transaction History Module</a:t>
            </a:r>
            <a:endParaRPr lang="en-US" altLang="en-US" sz="5600" dirty="0"/>
          </a:p>
          <a:p>
            <a:r>
              <a:rPr lang="en-US" altLang="en-US" sz="5600" dirty="0"/>
              <a:t>Display all recorded expenses</a:t>
            </a:r>
            <a:endParaRPr lang="en-US" altLang="en-US" sz="5600" dirty="0"/>
          </a:p>
          <a:p>
            <a:r>
              <a:rPr lang="en-US" altLang="en-US" sz="5600" dirty="0"/>
              <a:t>Show payment details</a:t>
            </a:r>
            <a:endParaRPr lang="en-US" altLang="en-US" sz="5600" dirty="0"/>
          </a:p>
          <a:p>
            <a:pPr marL="0" indent="0">
              <a:buNone/>
            </a:pPr>
            <a:r>
              <a:rPr lang="en-US" altLang="en-US" sz="5600" dirty="0"/>
              <a:t>4. Balance Calculation Module</a:t>
            </a:r>
            <a:endParaRPr lang="en-US" altLang="en-US" sz="5600" dirty="0"/>
          </a:p>
          <a:p>
            <a:r>
              <a:rPr lang="en-US" altLang="en-US" sz="5600" dirty="0"/>
              <a:t>Calculate total expenses</a:t>
            </a:r>
            <a:endParaRPr lang="en-US" altLang="en-US" sz="5600" dirty="0"/>
          </a:p>
          <a:p>
            <a:r>
              <a:rPr lang="en-US" altLang="en-US" sz="5600" dirty="0"/>
              <a:t>Calculate equal share</a:t>
            </a:r>
            <a:endParaRPr lang="en-US" altLang="en-US" sz="5600" dirty="0"/>
          </a:p>
          <a:p>
            <a:pPr marL="0" indent="0">
              <a:buNone/>
            </a:pPr>
            <a:r>
              <a:rPr lang="en-US" altLang="en-US" sz="5600" dirty="0"/>
              <a:t>5. Settlement Module</a:t>
            </a:r>
            <a:endParaRPr lang="en-US" altLang="en-US" sz="5600" dirty="0"/>
          </a:p>
          <a:p>
            <a:r>
              <a:rPr lang="en-US" altLang="en-US" sz="5600" dirty="0"/>
              <a:t>Determine who owes money and who receives money</a:t>
            </a:r>
            <a:endParaRPr lang="en-US" altLang="en-US" sz="5600" dirty="0"/>
          </a:p>
          <a:p>
            <a:r>
              <a:rPr lang="en-US" altLang="en-US" sz="5600" dirty="0"/>
              <a:t>Generate settlement results</a:t>
            </a:r>
            <a:endParaRPr lang="en-US" altLang="en-US" sz="5600" dirty="0"/>
          </a:p>
          <a:p>
            <a:pPr marL="0" indent="0">
              <a:buNone/>
            </a:pPr>
            <a:r>
              <a:rPr lang="en-US" altLang="en-US" sz="5600" dirty="0"/>
              <a:t>6. DSA Module</a:t>
            </a:r>
            <a:endParaRPr lang="en-US" altLang="en-US" sz="5600" dirty="0"/>
          </a:p>
          <a:p>
            <a:r>
              <a:rPr lang="en-US" altLang="en-US" sz="5600" dirty="0"/>
              <a:t>Implement stack, queue, searching, and sorting algorithms</a:t>
            </a:r>
            <a:endParaRPr lang="en-US" altLang="en-US" sz="5600"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Objectives</a:t>
            </a:r>
            <a:endParaRPr lang="en-US" b="1" dirty="0"/>
          </a:p>
        </p:txBody>
      </p:sp>
      <p:sp>
        <p:nvSpPr>
          <p:cNvPr id="9" name="Content Placeholder 8"/>
          <p:cNvSpPr>
            <a:spLocks noGrp="1"/>
          </p:cNvSpPr>
          <p:nvPr>
            <p:ph idx="1"/>
          </p:nvPr>
        </p:nvSpPr>
        <p:spPr/>
        <p:txBody>
          <a:bodyPr>
            <a:normAutofit/>
          </a:bodyPr>
          <a:lstStyle/>
          <a:p>
            <a:r>
              <a:rPr lang="en-US" altLang="en-US" dirty="0"/>
              <a:t>The main objectives of the project are:</a:t>
            </a:r>
            <a:endParaRPr lang="en-US" altLang="en-US" dirty="0"/>
          </a:p>
          <a:p>
            <a:endParaRPr lang="en-US" altLang="en-US" dirty="0"/>
          </a:p>
          <a:p>
            <a:r>
              <a:rPr lang="en-US" altLang="en-US" dirty="0"/>
              <a:t>• To simplify group expense management</a:t>
            </a:r>
            <a:endParaRPr lang="en-US" altLang="en-US" dirty="0"/>
          </a:p>
          <a:p>
            <a:r>
              <a:rPr lang="en-US" altLang="en-US" dirty="0"/>
              <a:t>• To reduce manual calculation errors</a:t>
            </a:r>
            <a:endParaRPr lang="en-US" altLang="en-US" dirty="0"/>
          </a:p>
          <a:p>
            <a:r>
              <a:rPr lang="en-US" altLang="en-US" dirty="0"/>
              <a:t>• To provide a user-friendly interface</a:t>
            </a:r>
            <a:endParaRPr lang="en-US" altLang="en-US" dirty="0"/>
          </a:p>
          <a:p>
            <a:r>
              <a:rPr lang="en-US" altLang="en-US" dirty="0"/>
              <a:t>• To implement data structures and algorithms in a practical application</a:t>
            </a:r>
            <a:endParaRPr lang="en-US" altLang="en-US" dirty="0"/>
          </a:p>
          <a:p>
            <a:r>
              <a:rPr lang="en-US" altLang="en-US" dirty="0"/>
              <a:t>• To demonstrate concepts of Front-End Web Development and Data Structures</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Co’s Attainments - FWD</a:t>
            </a:r>
            <a:endParaRPr lang="en-US" b="1" dirty="0"/>
          </a:p>
        </p:txBody>
      </p:sp>
      <p:sp>
        <p:nvSpPr>
          <p:cNvPr id="9" name="Content Placeholder 8"/>
          <p:cNvSpPr>
            <a:spLocks noGrp="1"/>
          </p:cNvSpPr>
          <p:nvPr>
            <p:ph idx="1"/>
          </p:nvPr>
        </p:nvSpPr>
        <p:spPr>
          <a:xfrm>
            <a:off x="737870" y="1492885"/>
            <a:ext cx="10515600" cy="4351338"/>
          </a:xfrm>
        </p:spPr>
        <p:txBody>
          <a:bodyPr>
            <a:noAutofit/>
          </a:bodyPr>
          <a:lstStyle/>
          <a:p>
            <a:pPr marL="0" indent="0">
              <a:buNone/>
            </a:pPr>
            <a:r>
              <a:rPr lang="en-US" altLang="en-US" sz="1500" dirty="0"/>
              <a:t>CO1:</a:t>
            </a:r>
            <a:endParaRPr lang="en-US" altLang="en-US" sz="1500" dirty="0"/>
          </a:p>
          <a:p>
            <a:pPr marL="0" indent="0">
              <a:buNone/>
            </a:pPr>
            <a:r>
              <a:rPr lang="en-US" altLang="en-US" sz="1500" dirty="0"/>
              <a:t>Apply Internet fundamentals, HTML structure, and introductory CSS styling to design web pages.</a:t>
            </a:r>
            <a:endParaRPr lang="en-US" altLang="en-US" sz="1500" dirty="0"/>
          </a:p>
          <a:p>
            <a:pPr marL="0" indent="0">
              <a:buNone/>
            </a:pPr>
            <a:endParaRPr lang="en-US" altLang="en-US" sz="1500" dirty="0"/>
          </a:p>
          <a:p>
            <a:pPr marL="0" indent="0">
              <a:buNone/>
            </a:pPr>
            <a:r>
              <a:rPr lang="en-US" altLang="en-US" sz="1500" dirty="0"/>
              <a:t>CO2:</a:t>
            </a:r>
            <a:endParaRPr lang="en-US" altLang="en-US" sz="1500" dirty="0"/>
          </a:p>
          <a:p>
            <a:pPr marL="0" indent="0">
              <a:buNone/>
            </a:pPr>
            <a:r>
              <a:rPr lang="en-US" altLang="en-US" sz="1500" dirty="0"/>
              <a:t>Use HTML forms, semantic tags, and CSS layouts to build a user-friendly interface.</a:t>
            </a:r>
            <a:endParaRPr lang="en-US" altLang="en-US" sz="1500" dirty="0"/>
          </a:p>
          <a:p>
            <a:pPr marL="0" indent="0">
              <a:buNone/>
            </a:pPr>
            <a:endParaRPr lang="en-US" altLang="en-US" sz="1500" dirty="0"/>
          </a:p>
          <a:p>
            <a:pPr marL="0" indent="0">
              <a:buNone/>
            </a:pPr>
            <a:r>
              <a:rPr lang="en-US" altLang="en-US" sz="1500" dirty="0"/>
              <a:t>CO3:</a:t>
            </a:r>
            <a:endParaRPr lang="en-US" altLang="en-US" sz="1500" dirty="0"/>
          </a:p>
          <a:p>
            <a:pPr marL="0" indent="0">
              <a:buNone/>
            </a:pPr>
            <a:r>
              <a:rPr lang="en-US" altLang="en-US" sz="1500" dirty="0"/>
              <a:t>Implement JavaScript programming to handle user interactions and dynamic updates.</a:t>
            </a:r>
            <a:endParaRPr lang="en-US" altLang="en-US" sz="1500" dirty="0"/>
          </a:p>
          <a:p>
            <a:pPr marL="0" indent="0">
              <a:buNone/>
            </a:pPr>
            <a:endParaRPr lang="en-US" altLang="en-US" sz="1500" dirty="0"/>
          </a:p>
          <a:p>
            <a:pPr marL="0" indent="0">
              <a:buNone/>
            </a:pPr>
            <a:r>
              <a:rPr lang="en-US" altLang="en-US" sz="1500" dirty="0"/>
              <a:t>CO4:</a:t>
            </a:r>
            <a:endParaRPr lang="en-US" altLang="en-US" sz="1500" dirty="0"/>
          </a:p>
          <a:p>
            <a:pPr marL="0" indent="0">
              <a:buNone/>
            </a:pPr>
            <a:r>
              <a:rPr lang="en-US" altLang="en-US" sz="1500" dirty="0"/>
              <a:t>Use JavaScript interactivity and DOM manipulation to manage data and display results.</a:t>
            </a:r>
            <a:endParaRPr lang="en-US" altLang="en-US" sz="1500" dirty="0"/>
          </a:p>
          <a:p>
            <a:pPr marL="0" indent="0">
              <a:buNone/>
            </a:pPr>
            <a:endParaRPr lang="en-US" altLang="en-US" sz="1500" dirty="0"/>
          </a:p>
          <a:p>
            <a:pPr marL="0" indent="0">
              <a:buNone/>
            </a:pPr>
            <a:r>
              <a:rPr lang="en-US" altLang="en-US" sz="1500" dirty="0"/>
              <a:t>CO5:</a:t>
            </a:r>
            <a:endParaRPr lang="en-US" altLang="en-US" sz="1500" dirty="0"/>
          </a:p>
          <a:p>
            <a:pPr marL="0" indent="0">
              <a:buNone/>
            </a:pPr>
            <a:r>
              <a:rPr lang="en-US" altLang="en-US" sz="1500" dirty="0"/>
              <a:t>Apply advanced web development concepts for building a functional web application.</a:t>
            </a:r>
            <a:endParaRPr lang="en-US" altLang="en-US" sz="1500"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t>Co’s Attainments - DSA</a:t>
            </a:r>
            <a:endParaRPr lang="en-US" b="1" dirty="0"/>
          </a:p>
        </p:txBody>
      </p:sp>
      <p:sp>
        <p:nvSpPr>
          <p:cNvPr id="9" name="Content Placeholder 8"/>
          <p:cNvSpPr>
            <a:spLocks noGrp="1"/>
          </p:cNvSpPr>
          <p:nvPr>
            <p:ph idx="1"/>
          </p:nvPr>
        </p:nvSpPr>
        <p:spPr>
          <a:xfrm>
            <a:off x="779145" y="1415415"/>
            <a:ext cx="10515600" cy="4351338"/>
          </a:xfrm>
        </p:spPr>
        <p:txBody>
          <a:bodyPr>
            <a:noAutofit/>
          </a:bodyPr>
          <a:lstStyle/>
          <a:p>
            <a:pPr marL="0" indent="0">
              <a:buNone/>
            </a:pPr>
            <a:r>
              <a:rPr lang="en-US" altLang="en-US" sz="1600" dirty="0"/>
              <a:t>CO1:</a:t>
            </a:r>
            <a:endParaRPr lang="en-US" altLang="en-US" sz="1600" dirty="0"/>
          </a:p>
          <a:p>
            <a:pPr marL="0" indent="0">
              <a:buNone/>
            </a:pPr>
            <a:r>
              <a:rPr lang="en-US" altLang="en-US" sz="1600" dirty="0"/>
              <a:t>Implement searching and sorting algorithms such as linear search and bubble sort.</a:t>
            </a:r>
            <a:endParaRPr lang="en-US" altLang="en-US" sz="1600" dirty="0"/>
          </a:p>
          <a:p>
            <a:pPr marL="0" indent="0">
              <a:buNone/>
            </a:pPr>
            <a:endParaRPr lang="en-US" altLang="en-US" sz="1600" dirty="0"/>
          </a:p>
          <a:p>
            <a:pPr marL="0" indent="0">
              <a:buNone/>
            </a:pPr>
            <a:r>
              <a:rPr lang="en-US" altLang="en-US" sz="1600" dirty="0"/>
              <a:t>CO2:</a:t>
            </a:r>
            <a:endParaRPr lang="en-US" altLang="en-US" sz="1600" dirty="0"/>
          </a:p>
          <a:p>
            <a:pPr marL="0" indent="0">
              <a:buNone/>
            </a:pPr>
            <a:r>
              <a:rPr lang="en-US" altLang="en-US" sz="1600" dirty="0"/>
              <a:t>Use arrays and lists to store members and expense records.</a:t>
            </a:r>
            <a:endParaRPr lang="en-US" altLang="en-US" sz="1600" dirty="0"/>
          </a:p>
          <a:p>
            <a:pPr marL="0" indent="0">
              <a:buNone/>
            </a:pPr>
            <a:endParaRPr lang="en-US" altLang="en-US" sz="1600" dirty="0"/>
          </a:p>
          <a:p>
            <a:pPr marL="0" indent="0">
              <a:buNone/>
            </a:pPr>
            <a:r>
              <a:rPr lang="en-US" altLang="en-US" sz="1600" dirty="0"/>
              <a:t>CO3:</a:t>
            </a:r>
            <a:endParaRPr lang="en-US" altLang="en-US" sz="1600" dirty="0"/>
          </a:p>
          <a:p>
            <a:pPr marL="0" indent="0">
              <a:buNone/>
            </a:pPr>
            <a:r>
              <a:rPr lang="en-US" altLang="en-US" sz="1600" dirty="0"/>
              <a:t>Apply stack and queue data structures for managing transaction history and processing operations.</a:t>
            </a:r>
            <a:endParaRPr lang="en-US" altLang="en-US" sz="1600" dirty="0"/>
          </a:p>
          <a:p>
            <a:pPr marL="0" indent="0">
              <a:buNone/>
            </a:pPr>
            <a:endParaRPr lang="en-US" altLang="en-US" sz="1600" dirty="0"/>
          </a:p>
          <a:p>
            <a:pPr marL="0" indent="0">
              <a:buNone/>
            </a:pPr>
            <a:r>
              <a:rPr lang="en-US" altLang="en-US" sz="1600" dirty="0"/>
              <a:t>CO4:</a:t>
            </a:r>
            <a:endParaRPr lang="en-US" altLang="en-US" sz="1600" dirty="0"/>
          </a:p>
          <a:p>
            <a:pPr marL="0" indent="0">
              <a:buNone/>
            </a:pPr>
            <a:r>
              <a:rPr lang="en-US" altLang="en-US" sz="1600" dirty="0"/>
              <a:t>Use hash-based data structures (JavaScript objects) to store and retrieve balances efficiently.</a:t>
            </a:r>
            <a:endParaRPr lang="en-US" altLang="en-US" sz="1600" dirty="0"/>
          </a:p>
          <a:p>
            <a:pPr marL="0" indent="0">
              <a:buNone/>
            </a:pPr>
            <a:endParaRPr lang="en-US" altLang="en-US" sz="1600" dirty="0"/>
          </a:p>
          <a:p>
            <a:pPr marL="0" indent="0">
              <a:buNone/>
            </a:pPr>
            <a:r>
              <a:rPr lang="en-US" altLang="en-US" sz="1600" dirty="0"/>
              <a:t>CO5:</a:t>
            </a:r>
            <a:endParaRPr lang="en-US" altLang="en-US" sz="1600" dirty="0"/>
          </a:p>
          <a:p>
            <a:pPr marL="0" indent="0">
              <a:buNone/>
            </a:pPr>
            <a:r>
              <a:rPr lang="en-US" altLang="en-US" sz="1600" dirty="0"/>
              <a:t>Develop a practical application that demonstrates data structure usage in real-world scenarios.</a:t>
            </a:r>
            <a:endParaRPr lang="en-US" altLang="en-US" sz="1600"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4485" y="-30480"/>
            <a:ext cx="10515600" cy="1325563"/>
          </a:xfrm>
        </p:spPr>
        <p:txBody>
          <a:bodyPr/>
          <a:lstStyle/>
          <a:p>
            <a:r>
              <a:rPr lang="en-US" dirty="0"/>
              <a:t>Screenshots for FWD &amp; DSA</a:t>
            </a:r>
            <a:endParaRPr lang="en-US" dirty="0"/>
          </a:p>
        </p:txBody>
      </p:sp>
      <p:pic>
        <p:nvPicPr>
          <p:cNvPr id="7" name="Content Placeholder 6" descr="Screenshot 2026-03-09 130125"/>
          <p:cNvPicPr>
            <a:picLocks noChangeAspect="1"/>
          </p:cNvPicPr>
          <p:nvPr>
            <p:ph idx="1"/>
          </p:nvPr>
        </p:nvPicPr>
        <p:blipFill>
          <a:blip r:embed="rId1"/>
          <a:stretch>
            <a:fillRect/>
          </a:stretch>
        </p:blipFill>
        <p:spPr>
          <a:xfrm>
            <a:off x="0" y="918845"/>
            <a:ext cx="5309870" cy="2407920"/>
          </a:xfrm>
          <a:prstGeom prst="rect">
            <a:avLst/>
          </a:prstGeom>
        </p:spPr>
      </p:pic>
      <p:sp>
        <p:nvSpPr>
          <p:cNvPr id="4" name="Date Placeholder 3"/>
          <p:cNvSpPr>
            <a:spLocks noGrp="1"/>
          </p:cNvSpPr>
          <p:nvPr>
            <p:ph type="dt" sz="half" idx="10"/>
          </p:nvPr>
        </p:nvSpPr>
        <p:spPr/>
        <p:txBody>
          <a:bodyPr/>
          <a:lstStyle/>
          <a:p>
            <a:fld id="{9C5272DB-0103-AF4C-A22D-07421EC406AD}" type="datetime1">
              <a:rPr lang="en-IN" smtClean="0"/>
            </a:fld>
            <a:endParaRPr lang="en-US"/>
          </a:p>
        </p:txBody>
      </p:sp>
      <p:sp>
        <p:nvSpPr>
          <p:cNvPr id="5" name="Footer Placeholder 4"/>
          <p:cNvSpPr>
            <a:spLocks noGrp="1"/>
          </p:cNvSpPr>
          <p:nvPr>
            <p:ph type="ftr" sz="quarter" idx="11"/>
          </p:nvPr>
        </p:nvSpPr>
        <p:spPr/>
        <p:txBody>
          <a:bodyPr/>
          <a:lstStyle/>
          <a:p>
            <a:r>
              <a:rPr lang="en-US" dirty="0"/>
              <a:t>173030211           Department of CSE</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pic>
        <p:nvPicPr>
          <p:cNvPr id="8" name="Picture 7" descr="Screenshot 2026-03-09 130149"/>
          <p:cNvPicPr>
            <a:picLocks noChangeAspect="1"/>
          </p:cNvPicPr>
          <p:nvPr/>
        </p:nvPicPr>
        <p:blipFill>
          <a:blip r:embed="rId2"/>
          <a:stretch>
            <a:fillRect/>
          </a:stretch>
        </p:blipFill>
        <p:spPr>
          <a:xfrm>
            <a:off x="5310505" y="3195955"/>
            <a:ext cx="6881495" cy="3661410"/>
          </a:xfrm>
          <a:prstGeom prst="rect">
            <a:avLst/>
          </a:prstGeom>
        </p:spPr>
      </p:pic>
      <p:pic>
        <p:nvPicPr>
          <p:cNvPr id="10" name="Picture 9" descr="Screenshot 2026-03-09 130404"/>
          <p:cNvPicPr>
            <a:picLocks noChangeAspect="1"/>
          </p:cNvPicPr>
          <p:nvPr/>
        </p:nvPicPr>
        <p:blipFill>
          <a:blip r:embed="rId3"/>
          <a:stretch>
            <a:fillRect/>
          </a:stretch>
        </p:blipFill>
        <p:spPr>
          <a:xfrm>
            <a:off x="5152390" y="918845"/>
            <a:ext cx="4959350" cy="1207135"/>
          </a:xfrm>
          <a:prstGeom prst="rect">
            <a:avLst/>
          </a:prstGeom>
        </p:spPr>
      </p:pic>
      <p:pic>
        <p:nvPicPr>
          <p:cNvPr id="11" name="Picture 10" descr="Screenshot 2026-03-09 130412"/>
          <p:cNvPicPr>
            <a:picLocks noChangeAspect="1"/>
          </p:cNvPicPr>
          <p:nvPr/>
        </p:nvPicPr>
        <p:blipFill>
          <a:blip r:embed="rId4"/>
          <a:stretch>
            <a:fillRect/>
          </a:stretch>
        </p:blipFill>
        <p:spPr>
          <a:xfrm>
            <a:off x="5152390" y="2125980"/>
            <a:ext cx="5028565" cy="1155065"/>
          </a:xfrm>
          <a:prstGeom prst="rect">
            <a:avLst/>
          </a:prstGeom>
        </p:spPr>
      </p:pic>
      <p:pic>
        <p:nvPicPr>
          <p:cNvPr id="12" name="Picture 11" descr="Screenshot 2026-03-09 130420"/>
          <p:cNvPicPr>
            <a:picLocks noChangeAspect="1"/>
          </p:cNvPicPr>
          <p:nvPr/>
        </p:nvPicPr>
        <p:blipFill>
          <a:blip r:embed="rId5"/>
          <a:srcRect l="11689" r="11502" b="6302"/>
          <a:stretch>
            <a:fillRect/>
          </a:stretch>
        </p:blipFill>
        <p:spPr>
          <a:xfrm>
            <a:off x="10111740" y="918845"/>
            <a:ext cx="2106295" cy="2360930"/>
          </a:xfrm>
          <a:prstGeom prst="rect">
            <a:avLst/>
          </a:prstGeom>
        </p:spPr>
      </p:pic>
      <p:pic>
        <p:nvPicPr>
          <p:cNvPr id="13" name="Picture 12" descr="Screenshot 2026-03-09 130432"/>
          <p:cNvPicPr>
            <a:picLocks noChangeAspect="1"/>
          </p:cNvPicPr>
          <p:nvPr/>
        </p:nvPicPr>
        <p:blipFill>
          <a:blip r:embed="rId6"/>
          <a:stretch>
            <a:fillRect/>
          </a:stretch>
        </p:blipFill>
        <p:spPr>
          <a:xfrm>
            <a:off x="0" y="3326765"/>
            <a:ext cx="5310505" cy="1457325"/>
          </a:xfrm>
          <a:prstGeom prst="rect">
            <a:avLst/>
          </a:prstGeom>
        </p:spPr>
      </p:pic>
      <p:pic>
        <p:nvPicPr>
          <p:cNvPr id="14" name="Picture 13" descr="Screenshot 2026-03-09 131007"/>
          <p:cNvPicPr>
            <a:picLocks noChangeAspect="1"/>
          </p:cNvPicPr>
          <p:nvPr/>
        </p:nvPicPr>
        <p:blipFill>
          <a:blip r:embed="rId7"/>
          <a:stretch>
            <a:fillRect/>
          </a:stretch>
        </p:blipFill>
        <p:spPr>
          <a:xfrm>
            <a:off x="0" y="4765675"/>
            <a:ext cx="5312410" cy="20554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353" y="238760"/>
            <a:ext cx="10173182" cy="1128009"/>
          </a:xfrm>
        </p:spPr>
        <p:txBody>
          <a:bodyPr/>
          <a:lstStyle/>
          <a:p>
            <a:pPr algn="ctr"/>
            <a:r>
              <a:rPr lang="en-US" b="1" dirty="0"/>
              <a:t>Conclusion</a:t>
            </a:r>
            <a:endParaRPr lang="en-US" b="1" dirty="0"/>
          </a:p>
        </p:txBody>
      </p:sp>
      <p:sp>
        <p:nvSpPr>
          <p:cNvPr id="9" name="Content Placeholder 8"/>
          <p:cNvSpPr>
            <a:spLocks noGrp="1"/>
          </p:cNvSpPr>
          <p:nvPr>
            <p:ph idx="1"/>
          </p:nvPr>
        </p:nvSpPr>
        <p:spPr>
          <a:xfrm>
            <a:off x="628650" y="1492885"/>
            <a:ext cx="10515600" cy="4351338"/>
          </a:xfrm>
        </p:spPr>
        <p:txBody>
          <a:bodyPr>
            <a:normAutofit lnSpcReduction="10000"/>
          </a:bodyPr>
          <a:lstStyle/>
          <a:p>
            <a:pPr marL="0" indent="0">
              <a:buNone/>
            </a:pPr>
            <a:r>
              <a:rPr lang="en-US" altLang="en-US" dirty="0"/>
              <a:t>The Group Based Expense Sharing Tool successfully demonstrates the application of Front-End Web Development and Data Structures in a practical system. The project simplifies the management of shared expenses by providing an intuitive interface and automated calculations.</a:t>
            </a:r>
            <a:endParaRPr lang="en-US" altLang="en-US" dirty="0"/>
          </a:p>
          <a:p>
            <a:pPr marL="0" indent="0">
              <a:buNone/>
            </a:pPr>
            <a:endParaRPr lang="en-US" altLang="en-US" dirty="0"/>
          </a:p>
          <a:p>
            <a:pPr marL="0" indent="0">
              <a:buNone/>
            </a:pPr>
            <a:r>
              <a:rPr lang="en-US" altLang="en-US" dirty="0"/>
              <a:t>By implementing data structures such as arrays, stacks, queues, and algorithms like searching and sorting, the project highlights how theoretical concepts can be applied to real-world applications. The system improves accuracy, efficiency, and transparency in group expense management.</a:t>
            </a:r>
            <a:endParaRPr lang="en-US" altLang="en-US" dirty="0"/>
          </a:p>
        </p:txBody>
      </p:sp>
      <p:sp>
        <p:nvSpPr>
          <p:cNvPr id="5" name="Date Placeholder 4"/>
          <p:cNvSpPr>
            <a:spLocks noGrp="1"/>
          </p:cNvSpPr>
          <p:nvPr>
            <p:ph type="dt" sz="half" idx="10"/>
          </p:nvPr>
        </p:nvSpPr>
        <p:spPr/>
        <p:txBody>
          <a:bodyPr/>
          <a:lstStyle/>
          <a:p>
            <a:fld id="{20A639D7-EAE1-7C4A-AC63-30DD6B16DE20}"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 Tag Photos</a:t>
            </a:r>
            <a:endParaRPr lang="en-US" dirty="0"/>
          </a:p>
        </p:txBody>
      </p:sp>
      <p:sp>
        <p:nvSpPr>
          <p:cNvPr id="3" name="Content Placeholder 2"/>
          <p:cNvSpPr>
            <a:spLocks noGrp="1"/>
          </p:cNvSpPr>
          <p:nvPr>
            <p:ph idx="1"/>
          </p:nvPr>
        </p:nvSpPr>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p:cNvSpPr>
            <a:spLocks noGrp="1"/>
          </p:cNvSpPr>
          <p:nvPr>
            <p:ph type="dt" sz="half" idx="10"/>
          </p:nvPr>
        </p:nvSpPr>
        <p:spPr/>
        <p:txBody>
          <a:bodyPr/>
          <a:lstStyle/>
          <a:p>
            <a:fld id="{9C5272DB-0103-AF4C-A22D-07421EC406AD}" type="datetime1">
              <a:rPr lang="en-IN" smtClean="0"/>
            </a:fld>
            <a:endParaRPr lang="en-US"/>
          </a:p>
        </p:txBody>
      </p:sp>
      <p:sp>
        <p:nvSpPr>
          <p:cNvPr id="5" name="Footer Placeholder 4"/>
          <p:cNvSpPr>
            <a:spLocks noGrp="1"/>
          </p:cNvSpPr>
          <p:nvPr>
            <p:ph type="ftr" sz="quarter" idx="11"/>
          </p:nvPr>
        </p:nvSpPr>
        <p:spPr/>
        <p:txBody>
          <a:bodyPr/>
          <a:lstStyle/>
          <a:p>
            <a:r>
              <a:rPr lang="en-US" dirty="0"/>
              <a:t>173030211           Department of CSE</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endParaRPr lang="en-IN" sz="4400" dirty="0"/>
          </a:p>
        </p:txBody>
      </p:sp>
      <p:sp>
        <p:nvSpPr>
          <p:cNvPr id="5" name="Date Placeholder 4"/>
          <p:cNvSpPr>
            <a:spLocks noGrp="1"/>
          </p:cNvSpPr>
          <p:nvPr>
            <p:ph type="dt" sz="half" idx="10"/>
          </p:nvPr>
        </p:nvSpPr>
        <p:spPr/>
        <p:txBody>
          <a:bodyPr/>
          <a:lstStyle/>
          <a:p>
            <a:fld id="{7AAD6276-EBF6-BB4A-A6C6-114A8D55B891}" type="datetime1">
              <a:rPr lang="en-IN" smtClean="0"/>
            </a:fld>
            <a:endParaRPr lang="en-US"/>
          </a:p>
        </p:txBody>
      </p:sp>
      <p:sp>
        <p:nvSpPr>
          <p:cNvPr id="6" name="Footer Placeholder 5"/>
          <p:cNvSpPr>
            <a:spLocks noGrp="1"/>
          </p:cNvSpPr>
          <p:nvPr>
            <p:ph type="ftr" sz="quarter" idx="11"/>
          </p:nvPr>
        </p:nvSpPr>
        <p:spPr/>
        <p:txBody>
          <a:bodyPr/>
          <a:lstStyle/>
          <a:p>
            <a:r>
              <a:rPr lang="en-US" dirty="0"/>
              <a:t>173030211           Department of CSE</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6417</Words>
  <Application>WPS Presentation</Application>
  <PresentationFormat>Widescreen</PresentationFormat>
  <Paragraphs>271</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14</vt:i4>
      </vt:variant>
    </vt:vector>
  </HeadingPairs>
  <TitlesOfParts>
    <vt:vector size="23" baseType="lpstr">
      <vt:lpstr>Arial</vt:lpstr>
      <vt:lpstr>SimSun</vt:lpstr>
      <vt:lpstr>Wingdings</vt:lpstr>
      <vt:lpstr>Calibri</vt:lpstr>
      <vt:lpstr>Microsoft YaHei</vt:lpstr>
      <vt:lpstr>Arial Unicode MS</vt:lpstr>
      <vt:lpstr>Calibri Light</vt:lpstr>
      <vt:lpstr>Office Theme</vt:lpstr>
      <vt:lpstr>Custom Design</vt:lpstr>
      <vt:lpstr>Title:Group Based Expense Sharing Tool</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nani rohan</cp:lastModifiedBy>
  <cp:revision>54</cp:revision>
  <dcterms:created xsi:type="dcterms:W3CDTF">2022-05-20T10:20:00Z</dcterms:created>
  <dcterms:modified xsi:type="dcterms:W3CDTF">2026-03-12T07:34:44Z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9C760A53C5AE45C999D6906CA59FBCD1_12</vt:lpwstr>
  </property>
  <property fmtid="{D5CDD505-2E9C-101B-9397-08002B2CF9AE}" pid="3" name="KSOProductBuildVer">
    <vt:lpwstr>1033-12.2.0.23196</vt:lpwstr>
  </property>
</Properties>
</file>